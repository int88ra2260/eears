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0cc55472ae43ab" /><Relationship Type="http://schemas.openxmlformats.org/officeDocument/2006/relationships/extended-properties" Target="/docProps/app.xml" Id="R83798f5e3150491b" /><Relationship Type="http://schemas.openxmlformats.org/officeDocument/2006/relationships/officeDocument" Target="/ppt/presentation.xml" Id="Ra38e1718364447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68dae5b4934b21"/>
  </p:sldMasterIdLst>
  <p:notesMasterIdLst>
    <p:notesMasterId xmlns:r="http://schemas.openxmlformats.org/officeDocument/2006/relationships" r:id="R063733be9a7c4393"/>
  </p:notesMasterIdLst>
  <p:sldIdLst>
    <p:sldId xmlns:r="http://schemas.openxmlformats.org/officeDocument/2006/relationships" id="256" r:id="R9189a7b629da4226"/>
    <p:sldId xmlns:r="http://schemas.openxmlformats.org/officeDocument/2006/relationships" id="257" r:id="Re7550a3c23a947ce"/>
    <p:sldId xmlns:r="http://schemas.openxmlformats.org/officeDocument/2006/relationships" id="258" r:id="Ra3a2162d7e63423c"/>
    <p:sldId xmlns:r="http://schemas.openxmlformats.org/officeDocument/2006/relationships" id="259" r:id="R1329a773c0db4504"/>
    <p:sldId xmlns:r="http://schemas.openxmlformats.org/officeDocument/2006/relationships" id="260" r:id="R9cd8e9c645e441aa"/>
    <p:sldId xmlns:r="http://schemas.openxmlformats.org/officeDocument/2006/relationships" id="261" r:id="R5bdc7482ef5c4c91"/>
    <p:sldId xmlns:r="http://schemas.openxmlformats.org/officeDocument/2006/relationships" id="262" r:id="R67b157befa7b46a4"/>
    <p:sldId xmlns:r="http://schemas.openxmlformats.org/officeDocument/2006/relationships" id="263" r:id="Rd332f8db32004e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b8ffe46be34671" /><Relationship Type="http://schemas.openxmlformats.org/officeDocument/2006/relationships/slideMaster" Target="/ppt/slideMasters/slideMaster1.xml" Id="R3668dae5b4934b21" /><Relationship Type="http://schemas.openxmlformats.org/officeDocument/2006/relationships/notesMaster" Target="/ppt/notesMasters/notesMaster1.xml" Id="R063733be9a7c4393" /><Relationship Type="http://schemas.openxmlformats.org/officeDocument/2006/relationships/presProps" Target="/ppt/presProps.xml" Id="R3f57dd5b3ae544cc" /><Relationship Type="http://schemas.openxmlformats.org/officeDocument/2006/relationships/tableStyles" Target="/ppt/tableStyles.xml" Id="R745ea833ee734a62" /><Relationship Type="http://schemas.openxmlformats.org/officeDocument/2006/relationships/slide" Target="/ppt/slides/slide1.xml" Id="R9189a7b629da4226" /><Relationship Type="http://schemas.openxmlformats.org/officeDocument/2006/relationships/slide" Target="/ppt/slides/slide2.xml" Id="Re7550a3c23a947ce" /><Relationship Type="http://schemas.openxmlformats.org/officeDocument/2006/relationships/slide" Target="/ppt/slides/slide3.xml" Id="Ra3a2162d7e63423c" /><Relationship Type="http://schemas.openxmlformats.org/officeDocument/2006/relationships/slide" Target="/ppt/slides/slide4.xml" Id="R1329a773c0db4504" /><Relationship Type="http://schemas.openxmlformats.org/officeDocument/2006/relationships/slide" Target="/ppt/slides/slide5.xml" Id="R9cd8e9c645e441aa" /><Relationship Type="http://schemas.openxmlformats.org/officeDocument/2006/relationships/slide" Target="/ppt/slides/slide6.xml" Id="R5bdc7482ef5c4c91" /><Relationship Type="http://schemas.openxmlformats.org/officeDocument/2006/relationships/slide" Target="/ppt/slides/slide7.xml" Id="R67b157befa7b46a4" /><Relationship Type="http://schemas.openxmlformats.org/officeDocument/2006/relationships/slide" Target="/ppt/slides/slide8.xml" Id="Rd332f8db32004e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74fdc8cf9b4e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417c4bc5914780" /><Relationship Type="http://schemas.openxmlformats.org/officeDocument/2006/relationships/notesMaster" Target="/ppt/notesMasters/notesMaster1.xml" Id="R5094cd403a444f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a56a06b84341db" /><Relationship Type="http://schemas.openxmlformats.org/officeDocument/2006/relationships/notesMaster" Target="/ppt/notesMasters/notesMaster1.xml" Id="R7c4c9e5233de42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a36cd7029f429f" /><Relationship Type="http://schemas.openxmlformats.org/officeDocument/2006/relationships/notesMaster" Target="/ppt/notesMasters/notesMaster1.xml" Id="R640e9970a4e54f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1f19c09ce94eda" /><Relationship Type="http://schemas.openxmlformats.org/officeDocument/2006/relationships/notesMaster" Target="/ppt/notesMasters/notesMaster1.xml" Id="R15e23461749f4b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8f5ec36c1c4a76" /><Relationship Type="http://schemas.openxmlformats.org/officeDocument/2006/relationships/notesMaster" Target="/ppt/notesMasters/notesMaster1.xml" Id="R7af0e1cb91a342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01ce4517804921" /><Relationship Type="http://schemas.openxmlformats.org/officeDocument/2006/relationships/notesMaster" Target="/ppt/notesMasters/notesMaster1.xml" Id="Rfe2494acee8545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83091bc6fc4199" /><Relationship Type="http://schemas.openxmlformats.org/officeDocument/2006/relationships/notesMaster" Target="/ppt/notesMasters/notesMaster1.xml" Id="R90021c2b32a84a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11f676a1764e9d" /><Relationship Type="http://schemas.openxmlformats.org/officeDocument/2006/relationships/notesMaster" Target="/ppt/notesMasters/notesMaster1.xml" Id="R06c66af62ad348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EEARS repository changes completed on 2026-10-05.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Context: user testing showed transcript mismatch and student-side UX issues. The engineering direction is to use forced alignment for controlled read-aloud and transcript/NLP evidence for constructed responses.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source files: reservation-backend/services/speakingDiagnosticService.js, reservation-backend/services/speakingForcedAlignmentService.js.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detail: buildAlignmentWordResults now keeps startMs, endMs, durationMs, confidence and source for each aligned word.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Weighting shown reflects today's pilot formula in weightedReadAloudOverall. It is not a calibrated CEFR scoring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deck describes proxy evidence only. No external embedding model or paid ASR API was added today.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source files were changed in reservation-backend/services and reservation-frontend/src/pages.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commands: node --check services/speakingDiagnosticService.js; node --check services/speakingForcedAlignmentService.js; npm run build in reservation-frontend; two smoke tests for buildAutomatedAnalysis.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69528fb6854a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ab5faa6599484c" /><Relationship Type="http://schemas.openxmlformats.org/officeDocument/2006/relationships/slideLayout" Target="/ppt/slideLayouts/slideLayout1.xml" Id="Rb5668a9e586349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668a9e586349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4154feae14b02" /><Relationship Type="http://schemas.openxmlformats.org/officeDocument/2006/relationships/notesSlide" Target="/ppt/notesSlides/notesSlide1.xml" Id="R25cb1b514ed74b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e0bc0385f4453" /><Relationship Type="http://schemas.openxmlformats.org/officeDocument/2006/relationships/notesSlide" Target="/ppt/notesSlides/notesSlide2.xml" Id="Rd406040eabfe4d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76ce44b42436b" /><Relationship Type="http://schemas.openxmlformats.org/officeDocument/2006/relationships/notesSlide" Target="/ppt/notesSlides/notesSlide3.xml" Id="R98459508a8644a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2b6dc1f7f42ac" /><Relationship Type="http://schemas.openxmlformats.org/officeDocument/2006/relationships/notesSlide" Target="/ppt/notesSlides/notesSlide4.xml" Id="Rc24b1b0fbb914b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5931c1f8540bb" /><Relationship Type="http://schemas.openxmlformats.org/officeDocument/2006/relationships/notesSlide" Target="/ppt/notesSlides/notesSlide5.xml" Id="Rc32ed9bb82a34b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dd35fb41641f2" /><Relationship Type="http://schemas.openxmlformats.org/officeDocument/2006/relationships/notesSlide" Target="/ppt/notesSlides/notesSlide6.xml" Id="R67bc9b88e9f743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680ea9208466e" /><Relationship Type="http://schemas.openxmlformats.org/officeDocument/2006/relationships/notesSlide" Target="/ppt/notesSlides/notesSlide7.xml" Id="R01611069f09f42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ce2f09e0c47a1" /><Relationship Type="http://schemas.openxmlformats.org/officeDocument/2006/relationships/notesSlide" Target="/ppt/notesSlides/notesSlide8.xml" Id="R8a5c5aaf86804c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9CC79-62AE-4B03-91EB-78B0BB45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EEARS 口說診斷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01EBD-0ABC-45CB-B0E7-EA13EE15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rPr>
              <a:t>2026-10-05 實作進度報告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21F65-1897-4300-87A7-211B68BE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809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今日重點：把 read-aloud 評分從 Web Speech API transcript 推進到 forced alignment evidence，並為發音與開放題研究資料建立可延伸的 evidence schema。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D0A86-612E-47D6-A632-1552BEDE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Prepared for project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874BD-C698-4287-BD1D-6DA1DD9B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E583C-489C-431E-AB06-75A26A57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47900"/>
            <a:ext cx="200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Forced alignment</a:t>
            </a:r>
          </a:p>
          <a:p xmlns:a="http://schemas.openxmlformats.org/drawingml/2006/main">
            <a:pPr>
              <a:defRPr sz="1725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Pronunciation evidence</a:t>
            </a:r>
          </a:p>
          <a:p xmlns:a="http://schemas.openxmlformats.org/drawingml/2006/main">
            <a:pPr>
              <a:defRPr sz="1725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NLP evidence</a:t>
            </a:r>
          </a:p>
          <a:p xmlns:a="http://schemas.openxmlformats.org/drawingml/2006/main">
            <a:pPr>
              <a:defRPr sz="1725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Research export</a:t>
            </a:r>
          </a:p>
        </p:txBody>
      </p:sp>
    </p:spTree>
    <p:extLst>
      <p:ext uri="{BB962C8B-B14F-4D97-AF65-F5344CB8AC3E}">
        <p14:creationId xmlns:p14="http://schemas.microsoft.com/office/powerpoint/2010/main" val="157715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9068E8-908A-4381-9D42-251AA1BB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rPr>
              <a:t>Why the engine needed another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0696A-14F3-4343-9A38-DCC3074F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目前評分問題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8ED22-E372-43DB-99EE-DDADED03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602A7-3033-4B7F-A063-709931BC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954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0FBDF-4C62-4749-8C1A-0114B60A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66900"/>
            <a:ext cx="944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Web Speech API 適合 demo，不適合作為主要評分依據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9FA80-2246-49F2-B574-DC1B2BFD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52650"/>
            <a:ext cx="944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它只提供 transcript，容易受瀏覽器、口音、網路與辨識格式影響。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23FF5-7F5C-414E-A4E0-1CDA0217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3823C-382D-4A2A-AB2A-B016434B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43200"/>
            <a:ext cx="944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Read-aloud 題本來有目標文字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43A93-7EF2-4649-B30F-DB33B93E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28950"/>
            <a:ext cx="944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系統應該把錄音對齊到題目文字，而不是只比較 ASR 逐字稿。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8B072-72E9-411A-B500-A114666D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0D6C2-D444-4F27-958E-A5CFEC38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19500"/>
            <a:ext cx="944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發音能力需要 acoustic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BB6BF-8DE2-4B86-A823-C82A1BAC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05250"/>
            <a:ext cx="944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完成度、word timing、confidence、phoneme boundaries 會比單純文字比對更接近口說構念。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2FA33-6306-40E4-9A64-28D590C6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243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D5546-516A-4C9E-AF7B-C3FBFF53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95800"/>
            <a:ext cx="944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開放題需要內容與語言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551BA0-319B-48E3-8E75-AD3DF0DC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81550"/>
            <a:ext cx="944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圖片描述、短答、意見題要看 task achievement、idea development、vocabulary、grammar、coherence。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26C0A-254B-475C-9B77-489DCA2A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rPr>
              <a:t>EEARS speaking diagnostic progress  02</a:t>
            </a:r>
          </a:p>
        </p:txBody>
      </p:sp>
    </p:spTree>
    <p:extLst>
      <p:ext uri="{BB962C8B-B14F-4D97-AF65-F5344CB8AC3E}">
        <p14:creationId xmlns:p14="http://schemas.microsoft.com/office/powerpoint/2010/main" val="18724308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B8599-FA22-4B1C-BDDE-74455D27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rPr>
              <a:t>Scoring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E9213-2532-4484-AEB8-64FE6DE4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今日完成的評分架構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BA754-140B-4CA4-BCC7-8C341FE6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A"/>
            </a:solidFill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74586"/>
                <a:gridCol w="3091543"/>
                <a:gridCol w="3220357"/>
                <a:gridCol w="2833914"/>
              </a:tblGrid>
              <a:tr h="63246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題型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核心 evidence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新增 scoring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目前狀態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Read-aloud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Forced alignment word results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completionPercent, pronunciationPercent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已接入 backend 與前端顯示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Pronunciation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Word timing, confidence, phone evidence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wordAcousticEvidence, phonemeEvidence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word-level active, phoneme-ready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Open response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ASR transcript plus NLP proxy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taskAchievementPercent, ideaDevelopmentPercent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已接入資料結構與 CSV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Research layer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features plus human ratings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correlation-ready export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已擴充 CSV 欄位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B0DFC-3306-42CA-B465-3B41E3B1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現在的 scoring model 仍是 pilot model。它的價值在於開始穩定收集可解釋 evidence，後續再用老師評分校準權重。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0BB0B-BEA0-496D-876A-B887D58D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rPr>
              <a:t>EEARS speaking diagnostic progress  03</a:t>
            </a:r>
          </a:p>
        </p:txBody>
      </p:sp>
    </p:spTree>
    <p:extLst>
      <p:ext uri="{BB962C8B-B14F-4D97-AF65-F5344CB8AC3E}">
        <p14:creationId xmlns:p14="http://schemas.microsoft.com/office/powerpoint/2010/main" val="20182810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B14EC7-F1A9-41A4-BDBF-82F10649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rPr>
              <a:t>Forced alignment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8059C-1E1D-4E22-9F40-7FAC1A65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Read-aloud scoring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F85FA-8E2E-4BCA-8444-08B780D3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83033-0271-434E-85D9-3653390F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C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8C8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BAE47-D431-42CA-B1BF-4F363A3A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27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錄音與題目文字一起送進 aligner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23A41-7B41-42B0-B324-7E79B36E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27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目標文字已知，系統可以檢查每個 target word 是否出現在音訊中。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59431-E2B3-4926-A891-6A9C51A1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146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C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8C8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FEC4A-7590-45FA-9B16-A5BF1F7C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86050"/>
            <a:ext cx="927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Word completion 改看 alignment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8507D-C379-4487-A174-90AEC0CF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71800"/>
            <a:ext cx="927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alignmentCompletionRate 會優先於 transcriptCompletionRate。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0F619-29D0-4BF8-88F4-1A780E9F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C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8C8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C2B3F-A282-4539-88D8-2C190266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24250"/>
            <a:ext cx="927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語速可由 aligned word count 補足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A2488-ABB8-43AA-8BD2-CAD7797E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10000"/>
            <a:ext cx="927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當 Web Speech transcript 缺失時，fluency evidence 不會整個變空。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D32B1-2108-43C3-BE06-010D0FCA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10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C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8C8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52E017-3DB0-44DC-89FC-BD37DFE1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62450"/>
            <a:ext cx="927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前台錄音中不再即時標錯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AFD0F4-BCCB-4440-A67F-D8862552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48200"/>
            <a:ext cx="927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學生停止錄音後自動送出，分析完成後才顯示 word-level result。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2E8B9-082C-4AE4-B241-BC1D964C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rPr>
              <a:t>EEARS speaking diagnostic progress  04</a:t>
            </a:r>
          </a:p>
        </p:txBody>
      </p:sp>
    </p:spTree>
    <p:extLst>
      <p:ext uri="{BB962C8B-B14F-4D97-AF65-F5344CB8AC3E}">
        <p14:creationId xmlns:p14="http://schemas.microsoft.com/office/powerpoint/2010/main" val="1638103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141CB-C7BD-4853-8CD4-DD0D962E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rPr>
              <a:t>Word-level now, phoneme-level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AAE68-1720-4DE6-BE47-C3B9AFDE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Pronunciation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5DD36-203B-4621-A0E8-BF79BEE3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A"/>
            </a:solidFill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3400"/>
                <a:gridCol w="2962729"/>
                <a:gridCol w="3349171"/>
                <a:gridCol w="2705100"/>
              </a:tblGrid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Evidence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目前資料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限制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Word acoustic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duration, expectedDuration, confidence, gaps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找低信心字與異常音長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需要 real alignment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Phoneme evidence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phone, start/end, confidence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未來算 phoneme accuracy 或 GOP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aligner 需回傳 phones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Pronunciation score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coverage plus word/phone confidence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納入 read-aloud overall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目前不是校準後分數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"/>
          <p:cNvGraphicFramePr/>
          <p:nvPr/>
        </p:nvGraphicFramePr>
        <p:xfrm>
          <a:off xmlns:a="http://schemas.openxmlformats.org/drawingml/2006/main" x="1619250" y="4800600"/>
          <a:ext xmlns:a="http://schemas.openxmlformats.org/drawingml/2006/main" cx="8001000" cy="990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66900"/>
                <a:gridCol w="1866900"/>
                <a:gridCol w="1600200"/>
                <a:gridCol w="1333500"/>
                <a:gridCol w="1333500"/>
              </a:tblGrid>
              <a:tr h="4953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Completion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Pronunciation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Fluency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Pace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Pause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35%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25%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20%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10%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10%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A6503-1C5B-4912-8467-A11B5977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rPr>
              <a:t>EEARS speaking diagnostic progress  05</a:t>
            </a:r>
          </a:p>
        </p:txBody>
      </p:sp>
    </p:spTree>
    <p:extLst>
      <p:ext uri="{BB962C8B-B14F-4D97-AF65-F5344CB8AC3E}">
        <p14:creationId xmlns:p14="http://schemas.microsoft.com/office/powerpoint/2010/main" val="1321318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936D0-81B0-43CE-BD13-7E009DB0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rPr>
              <a:t>ASR transcript plus NLP proxy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C6FC5-ACCA-4D5B-9914-6C3E68FF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Open-response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842F2-A585-4DDB-87C6-587631D6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2979B-8D2E-4374-9543-4D550FB0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開放題目前先使用低成本、可解釋的 proxy，讓資料可以開始收集；之後可以把 lexical overlap proxy 換成 BERT 或 sentence-transformer embeddings。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245745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31989"/>
                <a:gridCol w="3509319"/>
                <a:gridCol w="4679092"/>
              </a:tblGrid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Construct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今日新增欄位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解釋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Task achievement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taskAchievementProxy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題目關鍵詞覆蓋、回答長度與題型特徵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Idea development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ideaDevelopmentProxy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理由、例子、對比與 discourse markers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Coherence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discourseOrganizationProxy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沿用 transcriptEvidence 的 coherence proxy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Embedding-ready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embeddingProxy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先保存 method 與 matchedKeywords，未來可接模型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6B5E6-CC30-433C-A50B-B325DD74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rPr>
              <a:t>EEARS speaking diagnostic progress  06</a:t>
            </a:r>
          </a:p>
        </p:txBody>
      </p:sp>
    </p:spTree>
    <p:extLst>
      <p:ext uri="{BB962C8B-B14F-4D97-AF65-F5344CB8AC3E}">
        <p14:creationId xmlns:p14="http://schemas.microsoft.com/office/powerpoint/2010/main" val="6148532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881C9-D933-4C46-B878-CFF7B722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rPr>
              <a:t>Student, admin and research export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38A6D-F9F0-4411-8AE7-9A7A8850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System surfaces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E244F-0FE4-4B04-863C-48163E08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50DD7-6BF4-4438-91C0-CF954967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學生端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BFA19-9BF0-4098-A807-9D0939DD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停止錄音後自動送出。Read-aloud 顯示發音清晰度；開放題顯示任務達成與想法發展。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59DF7-0552-4FD5-842E-F564EFC4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後台評分頁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45ACA-95AD-446C-9493-9A29AA6F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新增 Pronunciation、Task achievement、Idea development，以及 word acoustic、phones、task relevance 等 evidence。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610BC-2EF8-479B-9754-240EE12B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研究 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E482D-67FA-4391-8DDB-455ED620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新增 pronunciation_percent、word_acoustic_score、phoneme summary、task relevance、idea development 等欄位。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EA4E0-F529-4E9F-83BF-36B90C4F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主要修改檔案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54A0E-FD13-4599-B266-CB1AD525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speakingDiagnosticService.js</a:t>
            </a:r>
          </a:p>
          <a:p xmlns:a="http://schemas.openxmlformats.org/drawingml/2006/main">
            <a:pPr>
              <a:defRPr sz="112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speakingForcedAlignmentService.js</a:t>
            </a:r>
          </a:p>
          <a:p xmlns:a="http://schemas.openxmlformats.org/drawingml/2006/main">
            <a:pPr>
              <a:defRPr sz="112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SpeakingDiagnosticPage.jsx</a:t>
            </a:r>
          </a:p>
          <a:p xmlns:a="http://schemas.openxmlformats.org/drawingml/2006/main">
            <a:pPr>
              <a:defRPr sz="112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SpeakingDiagnosticAdminPage.jsx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4D540C-F748-4A0B-B000-9221BDEE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rPr>
              <a:t>EEARS speaking diagnostic progress  07</a:t>
            </a:r>
          </a:p>
        </p:txBody>
      </p:sp>
    </p:spTree>
    <p:extLst>
      <p:ext uri="{BB962C8B-B14F-4D97-AF65-F5344CB8AC3E}">
        <p14:creationId xmlns:p14="http://schemas.microsoft.com/office/powerpoint/2010/main" val="3304310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B566E-5C19-4A7C-8A15-C4A00E85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rPr>
              <a:t>Status at end of 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69225-73F8-4FBB-9AC9-DBEDF182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Verification and next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6D7C4-6F76-4743-AA77-4CDEC956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A"/>
            </a:solidFill>
          </a:ln>
        </p:spPr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31989"/>
                <a:gridCol w="3655541"/>
                <a:gridCol w="4532870"/>
              </a:tblGrid>
              <a:tr h="6000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Check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Result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Meaning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Backend syntax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Passed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Both speaking services parse correctly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Frontend build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Passed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Vite production build completed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Smoke tests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Passed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Read-aloud and open-response evidence fields produce values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EC0CA-D8B5-46FD-A035-2C06AFAE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Next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4C4AA-5E46-434A-B2CC-32E99C8A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Select the production aligner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146A0-0E58-455C-A660-3159A41D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75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MFA or another local forced aligner must return word timings, and preferably phones.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516DE-E136-4BE9-A6BE-1D91D5F3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Collect teacher ratings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5A466-F022-42FC-8B88-ECC58EFB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75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Use the expanded CSV to estimate reliability and feature-human correlation.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A927A9-6CF3-4C43-B6D5-4199DAA3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Calibrate scoring weights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11A16-6D27-4132-B203-EE2A2225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03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75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Replace pilot weights after enough human-rated samples are available.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3430C-97DB-44AF-90A7-7DF0303C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rPr>
              <a:t>EEARS speaking diagnostic progress  08</a:t>
            </a:r>
          </a:p>
        </p:txBody>
      </p:sp>
    </p:spTree>
    <p:extLst>
      <p:ext uri="{BB962C8B-B14F-4D97-AF65-F5344CB8AC3E}">
        <p14:creationId xmlns:p14="http://schemas.microsoft.com/office/powerpoint/2010/main" val="21257816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2026-10-04T17:35:17.8110000Z</dcterms:created>
  <dcterms:modified xsi:type="dcterms:W3CDTF">2026-10-04T17:35:17.8110000Z</dcterms:modified>
</coreProperties>
</file>