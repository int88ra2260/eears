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03fe1161eb748a0" /><Relationship Type="http://schemas.openxmlformats.org/officeDocument/2006/relationships/extended-properties" Target="/docProps/app.xml" Id="R5b61f52637c14e4a" /><Relationship Type="http://schemas.openxmlformats.org/officeDocument/2006/relationships/officeDocument" Target="/ppt/presentation.xml" Id="R6bf2a1814f1d4e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6ac3688c40741c0"/>
  </p:sldMasterIdLst>
  <p:notesMasterIdLst>
    <p:notesMasterId xmlns:r="http://schemas.openxmlformats.org/officeDocument/2006/relationships" r:id="R7b300112f6ae41bd"/>
  </p:notesMasterIdLst>
  <p:sldIdLst>
    <p:sldId xmlns:r="http://schemas.openxmlformats.org/officeDocument/2006/relationships" id="256" r:id="R75cd8d19fe95413d"/>
    <p:sldId xmlns:r="http://schemas.openxmlformats.org/officeDocument/2006/relationships" id="257" r:id="R05a8daf03f924ca5"/>
    <p:sldId xmlns:r="http://schemas.openxmlformats.org/officeDocument/2006/relationships" id="258" r:id="R4e7dd0c8365c4e36"/>
    <p:sldId xmlns:r="http://schemas.openxmlformats.org/officeDocument/2006/relationships" id="259" r:id="Re4a4268a2de14a6a"/>
    <p:sldId xmlns:r="http://schemas.openxmlformats.org/officeDocument/2006/relationships" id="260" r:id="R28ea19cdeeb24fd9"/>
    <p:sldId xmlns:r="http://schemas.openxmlformats.org/officeDocument/2006/relationships" id="261" r:id="R323ae19dc57445cb"/>
    <p:sldId xmlns:r="http://schemas.openxmlformats.org/officeDocument/2006/relationships" id="262" r:id="Rf6a9c17d8720444d"/>
    <p:sldId xmlns:r="http://schemas.openxmlformats.org/officeDocument/2006/relationships" id="263" r:id="R01ec784c6e5941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0250ffa8fe046db" /><Relationship Type="http://schemas.openxmlformats.org/officeDocument/2006/relationships/slideMaster" Target="/ppt/slideMasters/slideMaster1.xml" Id="R26ac3688c40741c0" /><Relationship Type="http://schemas.openxmlformats.org/officeDocument/2006/relationships/notesMaster" Target="/ppt/notesMasters/notesMaster1.xml" Id="R7b300112f6ae41bd" /><Relationship Type="http://schemas.openxmlformats.org/officeDocument/2006/relationships/presProps" Target="/ppt/presProps.xml" Id="Rf4b8f8cb20534747" /><Relationship Type="http://schemas.openxmlformats.org/officeDocument/2006/relationships/tableStyles" Target="/ppt/tableStyles.xml" Id="Rb4bc4edf4c184005" /><Relationship Type="http://schemas.openxmlformats.org/officeDocument/2006/relationships/slide" Target="/ppt/slides/slide1.xml" Id="R75cd8d19fe95413d" /><Relationship Type="http://schemas.openxmlformats.org/officeDocument/2006/relationships/slide" Target="/ppt/slides/slide2.xml" Id="R05a8daf03f924ca5" /><Relationship Type="http://schemas.openxmlformats.org/officeDocument/2006/relationships/slide" Target="/ppt/slides/slide3.xml" Id="R4e7dd0c8365c4e36" /><Relationship Type="http://schemas.openxmlformats.org/officeDocument/2006/relationships/slide" Target="/ppt/slides/slide4.xml" Id="Re4a4268a2de14a6a" /><Relationship Type="http://schemas.openxmlformats.org/officeDocument/2006/relationships/slide" Target="/ppt/slides/slide5.xml" Id="R28ea19cdeeb24fd9" /><Relationship Type="http://schemas.openxmlformats.org/officeDocument/2006/relationships/slide" Target="/ppt/slides/slide6.xml" Id="R323ae19dc57445cb" /><Relationship Type="http://schemas.openxmlformats.org/officeDocument/2006/relationships/slide" Target="/ppt/slides/slide7.xml" Id="Rf6a9c17d8720444d" /><Relationship Type="http://schemas.openxmlformats.org/officeDocument/2006/relationships/slide" Target="/ppt/slides/slide8.xml" Id="R01ec784c6e5941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faf6f8f49974e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ee8cad234e54839" /><Relationship Type="http://schemas.openxmlformats.org/officeDocument/2006/relationships/notesMaster" Target="/ppt/notesMasters/notesMaster1.xml" Id="R131bd64995c845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690d6714b9843b0" /><Relationship Type="http://schemas.openxmlformats.org/officeDocument/2006/relationships/notesMaster" Target="/ppt/notesMasters/notesMaster1.xml" Id="Rc7b1ed97f9c347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68cc7d20184568" /><Relationship Type="http://schemas.openxmlformats.org/officeDocument/2006/relationships/notesMaster" Target="/ppt/notesMasters/notesMaster1.xml" Id="R0240a474d35a44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4cf8f87280432c" /><Relationship Type="http://schemas.openxmlformats.org/officeDocument/2006/relationships/notesMaster" Target="/ppt/notesMasters/notesMaster1.xml" Id="R2a2df79b805d4d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6cd60083844202" /><Relationship Type="http://schemas.openxmlformats.org/officeDocument/2006/relationships/notesMaster" Target="/ppt/notesMasters/notesMaster1.xml" Id="Rafc514b75e9643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68d87b52a942a5" /><Relationship Type="http://schemas.openxmlformats.org/officeDocument/2006/relationships/notesMaster" Target="/ppt/notesMasters/notesMaster1.xml" Id="Rd2ba09eb1ded40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cc3786911a4c60" /><Relationship Type="http://schemas.openxmlformats.org/officeDocument/2006/relationships/notesMaster" Target="/ppt/notesMasters/notesMaster1.xml" Id="Reb68f86ee6bb4f4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d5019f032b6422a" /><Relationship Type="http://schemas.openxmlformats.org/officeDocument/2006/relationships/notesMaster" Target="/ppt/notesMasters/notesMaster1.xml" Id="R911b1e8fb77d43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current EEARS repository changes completed on 2026-10-05.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Context: user testing showed transcript mismatch and student-side UX issues. The engineering direction is to use forced alignment for controlled read-aloud and transcript/NLP evidence for constructed responses.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files: reservation-backend/services/speakingDiagnosticService.js, reservation-backend/services/speakingForcedAlignmentService.js.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Implementation detail: buildAlignmentWordResults now keeps startMs, endMs, durationMs, confidence and source for each aligned word.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Weighting shown reflects today's pilot formula in weightedReadAloudOverall. It is not a calibrated CEFR scoring model.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deck describes proxy evidence only. No external embedding model or paid ASR API was added today.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Local source files were changed in reservation-backend/services and reservation-frontend/src/pages.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commands: node --check services/speakingDiagnosticService.js; node --check services/speakingForcedAlignmentService.js; npm run build in reservation-frontend; two smoke tests for buildAutomatedAnalysis.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e835a29af4412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3dfeffcd6c4d38" /><Relationship Type="http://schemas.openxmlformats.org/officeDocument/2006/relationships/slideLayout" Target="/ppt/slideLayouts/slideLayout1.xml" Id="R85fe58f66252472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fe58f66252472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29dc79f58409e" /><Relationship Type="http://schemas.openxmlformats.org/officeDocument/2006/relationships/notesSlide" Target="/ppt/notesSlides/notesSlide1.xml" Id="R7575772290a94d4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fc879dff3471e" /><Relationship Type="http://schemas.openxmlformats.org/officeDocument/2006/relationships/notesSlide" Target="/ppt/notesSlides/notesSlide2.xml" Id="R2b195ba2dbb44c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48d81a54b488e" /><Relationship Type="http://schemas.openxmlformats.org/officeDocument/2006/relationships/notesSlide" Target="/ppt/notesSlides/notesSlide3.xml" Id="R8ae86b9b1a044e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691632dda4517" /><Relationship Type="http://schemas.openxmlformats.org/officeDocument/2006/relationships/notesSlide" Target="/ppt/notesSlides/notesSlide4.xml" Id="Rd4c206e5c3504e7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566b2f63c4ee5" /><Relationship Type="http://schemas.openxmlformats.org/officeDocument/2006/relationships/notesSlide" Target="/ppt/notesSlides/notesSlide5.xml" Id="Rdabadb2bf7d742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0622a6427b4883" /><Relationship Type="http://schemas.openxmlformats.org/officeDocument/2006/relationships/notesSlide" Target="/ppt/notesSlides/notesSlide6.xml" Id="R4b94dffa33724b6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8b5cbf9724b23" /><Relationship Type="http://schemas.openxmlformats.org/officeDocument/2006/relationships/notesSlide" Target="/ppt/notesSlides/notesSlide7.xml" Id="Re5dc667ba5f74b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fc398ba70147aa" /><Relationship Type="http://schemas.openxmlformats.org/officeDocument/2006/relationships/notesSlide" Target="/ppt/notesSlides/notesSlide8.xml" Id="Rca627e961298471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39721D-2C8D-4127-9972-C2EC342E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809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6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EEARS 口說診斷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311BC-E306-4939-B832-185F4AD1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811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2026-10-05 實作進度報告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17835-D30A-4204-BAF1-1933B862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8096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今日重點：把 read-aloud 評分從 Web Speech API transcript 推進到 forced alignment evidence，並為發音與開放題研究資料建立可延伸的 evidence schema。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8BBAA-6FA9-47BC-9673-7217C19D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Prepared for project discussion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AD358-453D-4020-A3A4-4177F33F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266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168C79-A1BD-4D6C-BF3F-B5801319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247900"/>
            <a:ext cx="2000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Forced alignment</a:t>
            </a:r>
          </a:p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Pronunciation evidence</a:t>
            </a:r>
          </a:p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NLP evidence</a:t>
            </a:r>
          </a:p>
          <a:p xmlns:a="http://schemas.openxmlformats.org/drawingml/2006/main">
            <a:pPr>
              <a:def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Research export</a:t>
            </a:r>
          </a:p>
        </p:txBody>
      </p:sp>
    </p:spTree>
    <p:extLst>
      <p:ext uri="{BB962C8B-B14F-4D97-AF65-F5344CB8AC3E}">
        <p14:creationId xmlns:p14="http://schemas.microsoft.com/office/powerpoint/2010/main" val="20411217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1B414B-D219-4CC0-8441-BD7F8D482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Why the engine needed another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24F02-5893-445D-95CC-9C45658E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目前評分問題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B5090-72D1-4336-96C2-490DEA7C7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603CF-50CB-493B-A760-9C64BDF1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C651A-E416-4F00-B7E5-6578C7CF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866900"/>
            <a:ext cx="944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Web Speech API 適合 demo，不適合作為主要評分依據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75238-F5B3-4392-BA13-3C99AEA5E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1526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它只提供 transcript，容易受瀏覽器、口音、網路與辨識格式影響。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CDC14E-C111-48E7-83FF-7AFEAEE6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717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CD7EEF-260C-41A1-A2F6-1D24CA44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43200"/>
            <a:ext cx="944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Read-aloud 題本來有目標文字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5A0C13-3854-474B-8AF5-7B32C341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289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系統應該把錄音對齊到題目文字，而不是只比較 ASR 逐字稿。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303E8F-12A7-4FCE-9667-1550F450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480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8F7219-2C57-42A2-AF9E-365CA3A3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19500"/>
            <a:ext cx="944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發音能力需要 acoustic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6BF052-BC04-481B-87E7-EE52CC30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9052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完成度、word timing、confidence、phoneme boundaries 會比單純文字比對更接近口說構念。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078760-EDF0-4C38-8F29-A098CA1A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43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324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E3DC5-C873-4975-8939-18A6770E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95800"/>
            <a:ext cx="944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開放題需要內容與語言 evidence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9C7890-CDD0-4DB3-B833-86199802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81550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圖片描述、短答、意見題要看 task achievement、idea development、vocabulary、grammar、coherence。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900AF-EDEF-442B-9E74-DC764CC5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02</a:t>
            </a:r>
          </a:p>
        </p:txBody>
      </p:sp>
    </p:spTree>
    <p:extLst>
      <p:ext uri="{BB962C8B-B14F-4D97-AF65-F5344CB8AC3E}">
        <p14:creationId xmlns:p14="http://schemas.microsoft.com/office/powerpoint/2010/main" val="15619679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DC70C6-BA13-4EFC-879B-2175C8611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Scoring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0018B-4D73-443F-A266-AEFB4ACCE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今日完成的評分架構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CCAB58-43CE-4D27-BD16-E3D01431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47850"/>
          <a:ext xmlns:a="http://schemas.openxmlformats.org/drawingml/2006/main" cx="108204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74586"/>
                <a:gridCol w="3091543"/>
                <a:gridCol w="3220357"/>
                <a:gridCol w="2833914"/>
              </a:tblGrid>
              <a:tr h="63246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題型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核心 evidence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新增 scoring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目前狀態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Read-aloud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Forced alignment word results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completionPercent, pronunciationPercent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已接入 backend 與前端顯示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Pronunciation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Word timing, confidence, phone evidence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wordAcousticEvidence, phonemeEvidence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word-level active, phoneme-ready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Open response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ASR transcript plus NLP 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taskAchievementPercent, ideaDevelopmentPercent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已接入資料結構與 CSV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Research layer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features plus human ratings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correlation-ready export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已擴充 CSV 欄位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1BDC60-8C44-4B02-A11B-9FAAB70B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現在的 scoring model 仍是 pilot model。它的價值在於開始穩定收集可解釋 evidence，後續再用老師評分校準權重。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C646A1-17A6-4A64-BF75-989129FF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03</a:t>
            </a:r>
          </a:p>
        </p:txBody>
      </p:sp>
    </p:spTree>
    <p:extLst>
      <p:ext uri="{BB962C8B-B14F-4D97-AF65-F5344CB8AC3E}">
        <p14:creationId xmlns:p14="http://schemas.microsoft.com/office/powerpoint/2010/main" val="21296083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33AE8E-95BD-4531-83C5-2E2EBE970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Forced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2D50B9-C6D1-49A5-9605-A5DB86B8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Read-aloud scoring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537A3-ADDD-4B0A-A565-62E0A375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8C5AF8-F943-4935-B257-9ABFA43F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764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C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8C8C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974C05-BE02-4E7D-817D-AD54BB08C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27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錄音與題目文字一起送進 aligner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6AF13-D884-42C3-88F7-1615C9D9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27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目標文字已知，系統可以檢查每個 target word 是否出現在音訊中。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249820-58A2-459F-A3E8-FA4B2665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146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C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8C8C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3F0AF-18FB-41BE-B344-AE714D5C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686050"/>
            <a:ext cx="927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Word completion 改看 alignment 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D4964-73D7-403A-8911-70AC3D22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71800"/>
            <a:ext cx="927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alignmentCompletionRate 會優先於 transcriptCompletionRate。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6F1FCE-4224-4E4D-AAF4-63A3E6C3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28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C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8C8C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BD5B3-5610-4BA8-A3F1-93A06102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24250"/>
            <a:ext cx="927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語速可由 aligned word count 補足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DC0C1C-297D-4C57-9281-D32FDD7CD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10000"/>
            <a:ext cx="927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當 Web Speech transcript 缺失時，fluency evidence 不會整個變空。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415399-53B6-4B48-AD22-033543D07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9102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8C8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8C8C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3C9D1-171C-4427-8790-52E8FE5E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362450"/>
            <a:ext cx="9277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前台錄音中不再即時標錯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F2F1F8-4E14-4041-B24C-9562078F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48200"/>
            <a:ext cx="9277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學生停止錄音後自動送出，分析完成後才顯示 word-level result。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DDA2F8-B079-432F-A379-BE74BBA7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04</a:t>
            </a:r>
          </a:p>
        </p:txBody>
      </p:sp>
    </p:spTree>
    <p:extLst>
      <p:ext uri="{BB962C8B-B14F-4D97-AF65-F5344CB8AC3E}">
        <p14:creationId xmlns:p14="http://schemas.microsoft.com/office/powerpoint/2010/main" val="6046786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6C8DEF-1072-4C92-B3DB-46C66441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Word-level now, phoneme-level ready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B3FFA3-9D0A-4742-834D-5D5F8221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Pronunciation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D4C3E-B343-424F-9399-90E1E084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03400"/>
                <a:gridCol w="2962729"/>
                <a:gridCol w="3349171"/>
                <a:gridCol w="2705100"/>
              </a:tblGrid>
              <a:tr h="6667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Evidence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目前資料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用途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限制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Word acoustic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duration, expectedDuration, confidence, gaps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找低信心字與異常音長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需要 real alignment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Phoneme evidence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phone, start/end, confidence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未來算 phoneme accuracy 或 GOP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aligner 需回傳 phones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Pronunciation score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coverage plus word/phone confidence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納入 read-aloud overall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目前不是校準後分數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"/>
          <p:cNvGraphicFramePr/>
          <p:nvPr/>
        </p:nvGraphicFramePr>
        <p:xfrm>
          <a:off xmlns:a="http://schemas.openxmlformats.org/drawingml/2006/main" x="1619250" y="4800600"/>
          <a:ext xmlns:a="http://schemas.openxmlformats.org/drawingml/2006/main" cx="8001000" cy="990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66900"/>
                <a:gridCol w="1866900"/>
                <a:gridCol w="1600200"/>
                <a:gridCol w="1333500"/>
                <a:gridCol w="1333500"/>
              </a:tblGrid>
              <a:tr h="4953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Completion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Pronunciation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Fluency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Pace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Pause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35%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25%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20%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10%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10%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96C1D-648C-460E-8B1F-D03E60E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05</a:t>
            </a:r>
          </a:p>
        </p:txBody>
      </p:sp>
    </p:spTree>
    <p:extLst>
      <p:ext uri="{BB962C8B-B14F-4D97-AF65-F5344CB8AC3E}">
        <p14:creationId xmlns:p14="http://schemas.microsoft.com/office/powerpoint/2010/main" val="8771171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D8CE1-EB21-4377-9C09-36553F84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ASR transcript plus NLP proxy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D7EEF-A0F4-40CE-BB4F-084FC3E2F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Open-response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271DB5-6F79-4E35-BAEB-93943ADDC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05290-9C31-4C22-8173-12272C2C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9810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開放題目前先使用低成本、可解釋的 proxy，讓資料可以開始收集；之後可以把 lexical overlap proxy 換成 BERT 或 sentence-transformer embeddings。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85800" y="24574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1989"/>
                <a:gridCol w="3509319"/>
                <a:gridCol w="4679092"/>
              </a:tblGrid>
              <a:tr h="57150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Construct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今日新增欄位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解釋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Task achievement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taskAchievementProxy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題目關鍵詞覆蓋、回答長度與題型特徵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Idea development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ideaDevelopmentProxy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理由、例子、對比與 discourse markers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Coherence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discourseOrganizationProxy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沿用 transcriptEvidence 的 coherence 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Embedding-ready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embeddingProxy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先保存 method 與 matchedKeywords，未來可接模型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6FD64D-B8C6-447D-847C-D5D2F05D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06</a:t>
            </a:r>
          </a:p>
        </p:txBody>
      </p:sp>
    </p:spTree>
    <p:extLst>
      <p:ext uri="{BB962C8B-B14F-4D97-AF65-F5344CB8AC3E}">
        <p14:creationId xmlns:p14="http://schemas.microsoft.com/office/powerpoint/2010/main" val="9686820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DFC95-435C-4027-8DDA-24EDAD78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Student, admin and research export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093024-4180-45C5-9765-ADD254B9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System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D87ABC-6985-4E7A-9884-38E99F43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5881F6-672E-4767-A939-68C6AF0B7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478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學生端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C5F024-99C0-48FD-B9AC-5EDD94F9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停止錄音後自動送出。Read-aloud 顯示發音清晰度；開放題顯示任務達成與想法發展。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B4205-4DA6-4E5D-9441-35C824A64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194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後台評分頁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6BBDB-2D92-4342-A2D8-342B1E5F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新增 Pronunciation、Task achievement、Idea development，以及 word acoustic、phones、task relevance 等 evidence。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DC847E-88D0-4A0F-96E4-03E4BD50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研究 CSV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FEE2CC-2D13-4002-8DD2-6BAD9B6C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952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新增 pronunciation_percent、word_acoustic_score、phoneme summary、task relevance、idea development 等欄位。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058F9C-FB8E-47F2-9984-B8B0BB134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主要修改檔案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EE840C-6E79-4171-96E1-9CF7BC912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14950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speakingDiagnosticService.js</a:t>
            </a:r>
          </a:p>
          <a:p xmlns:a="http://schemas.openxmlformats.org/drawingml/2006/main">
            <a:pPr>
              <a:defRPr sz="112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speakingForcedAlignmentService.js</a:t>
            </a:r>
          </a:p>
          <a:p xmlns:a="http://schemas.openxmlformats.org/drawingml/2006/main">
            <a:pPr>
              <a:defRPr sz="112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SpeakingDiagnosticPage.jsx</a:t>
            </a:r>
          </a:p>
          <a:p xmlns:a="http://schemas.openxmlformats.org/drawingml/2006/main">
            <a:pPr>
              <a:defRPr sz="1125" b="0">
                <a:solidFill>
                  <a:srgbClr val="5D6B7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D6B78"/>
                </a:solidFill>
                <a:latin typeface="Aptos"/>
                <a:ea typeface="Aptos"/>
                <a:cs typeface="Aptos"/>
              </a:rPr>
              <a:t>SpeakingDiagnosticAdminPage.jsx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17F94-98A7-4294-AE86-5A83153D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07</a:t>
            </a:r>
          </a:p>
        </p:txBody>
      </p:sp>
    </p:spTree>
    <p:extLst>
      <p:ext uri="{BB962C8B-B14F-4D97-AF65-F5344CB8AC3E}">
        <p14:creationId xmlns:p14="http://schemas.microsoft.com/office/powerpoint/2010/main" val="16404894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28987-D470-49E9-92B1-133CA5F9C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188C8C"/>
                </a:solidFill>
                <a:latin typeface="Microsoft JhengHei"/>
                <a:ea typeface="Microsoft JhengHei"/>
                <a:cs typeface="Microsoft JhengHei"/>
              </a:rPr>
              <a:t>Status at end of day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714FA-0AD3-459F-95E2-2D43F749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70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Verification and next 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F50A6-D07B-4F6E-8238-85622937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E4EA"/>
            </a:solidFill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2400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31989"/>
                <a:gridCol w="3655541"/>
                <a:gridCol w="4532870"/>
              </a:tblGrid>
              <a:tr h="600075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Check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Result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Meaning</a:t>
                      </a:r>
                    </a:p>
                  </a:txBody>
                  <a:tcPr marL="95250" marR="95250" marT="76200" marB="76200">
                    <a:solidFill>
                      <a:srgbClr val="16324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Backend syntax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Passed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Both speaking services parse correctly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Frontend build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Passed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Vite production build completed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  <a:tr h="60007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Smoke tests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Passed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F2933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Read-aloud and open-response evidence fields produce values</a:t>
                      </a:r>
                    </a:p>
                  </a:txBody>
                  <a:tcPr marL="95250" marR="95250" marT="66675" marB="6667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29A538-D528-4671-8B31-C27B5C31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16324F"/>
                </a:solidFill>
                <a:latin typeface="Microsoft JhengHei"/>
                <a:ea typeface="Microsoft JhengHei"/>
                <a:cs typeface="Microsoft JhengHei"/>
              </a:rPr>
              <a:t>Next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63FAC5-9627-4FD1-AB26-BC96ED606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Select the production aligner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79D97-2712-46EA-9DCE-CD8AAC9B3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MFA or another local forced aligner must return word timings, and preferably phones.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7C4109-7747-4C69-9FC8-ECD70934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673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Collect teacher ratings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6D59C-03D3-46BA-A28A-5FD5FF63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Use the expanded CSV to estimate reliability and feature-human correlation.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9F9E4-62B4-4FF1-93FA-13364D6D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24550"/>
            <a:ext cx="990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F2933"/>
                </a:solidFill>
                <a:latin typeface="Microsoft JhengHei"/>
                <a:ea typeface="Microsoft JhengHei"/>
                <a:cs typeface="Microsoft JhengHei"/>
              </a:rPr>
              <a:t>Calibrate scoring weights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FE7F90-ADE3-4F73-9881-F8C7E90E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10300"/>
            <a:ext cx="990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D6B78"/>
                </a:solidFill>
                <a:latin typeface="Microsoft JhengHei"/>
                <a:ea typeface="Microsoft JhengHei"/>
                <a:cs typeface="Microsoft JhengHei"/>
              </a:rPr>
              <a:t>Replace pilot weights after enough human-rated samples are available.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31E391-5992-4FD7-BD40-212A6972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33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00" b="0">
                <a:solidFill>
                  <a:srgbClr val="8A97A3"/>
                </a:solidFill>
                <a:latin typeface="Microsoft JhengHei"/>
                <a:ea typeface="Microsoft JhengHei"/>
                <a:cs typeface="Microsoft JhengHei"/>
              </a:rPr>
              <a:t>EEARS speaking diagnostic progress  08</a:t>
            </a:r>
          </a:p>
        </p:txBody>
      </p:sp>
    </p:spTree>
    <p:extLst>
      <p:ext uri="{BB962C8B-B14F-4D97-AF65-F5344CB8AC3E}">
        <p14:creationId xmlns:p14="http://schemas.microsoft.com/office/powerpoint/2010/main" val="15136248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2026-10-04T17:34:08.3400000Z</dcterms:created>
  <dcterms:modified xsi:type="dcterms:W3CDTF">2026-10-04T17:34:08.3400000Z</dcterms:modified>
</coreProperties>
</file>